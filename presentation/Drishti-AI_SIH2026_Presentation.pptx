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name, the problem ID, and the one-line thesis: we are not inventing 5-class DR classification — we are making it work in a rural PHC.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90 seconds here. The number that should land is 1 ophthalmologist per 100,000. Then: the problem is not inventing classification — it is getting screening to run where the patients actually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aha: a standard classifier forced to grade every capture is dangerous. That is the failure mode we designed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wins trust. Judges have seen 50 ‘99% accurate CNN’ decks. Say what we are not claiming, then what we uniquely operationalise.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questions in order. Judges should hear that cloud-first was rejected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locked flow. Emphasise: Bad images produce ‘DR Prediction: Not generated’. That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cue: show a blurry image rejected with a recapture reason. Contrast with a naive classifier that would have graded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Akshay’s slide. Why EfficientNetB0: parameter-efficient, 33 MB, CPU-real. Why Grad-CAM++: dispersed lesions. Honest: heatmap ≠ segmentation.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rule 02 and 04 aloud. They are the regulatory posture: human-in-the-loop, abstain-and-escalate, not a diagnostic device claiming autonomy.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Adithya’s slide. Lead with 100% vs 0%. Do not oversell the 11.1% sensitivity number from the brief if asked — report CIs honestly and point to the safety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0.21 sensitivity before a judge finds it. Say: the model is a research baseline (APTOS); everything we built around it — domain gate, quality gate, uncertainty gate, mandatory human review — exists because of exactly this weakness. Every number reproduces with one command: evaluate_labeled_dataset.py.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Akshay/Adithya. 99.1% is the headline. Explain it as ‘we do not upload healthy eyes and ungradable pixels’.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Sinduri/Megha/Bezaleel. Mention bilingual audio for blur. Mention ABDM so it is a national-systems pitch, not a model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in 20 seconds. Do not read bios. Point to live demo owners: Bezaleel (flow), Madhu (clinical), Akshay (model).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manifesto. Invite the demo. Do not reopen architecture. If time: ‘ask us to break it with a bad image.’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SMART INDIA HACKATHON  2026   ·   SOFTWARE PROTOTYPE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Problem Statement  SIH26038    ·    Organisation  MathWorks    ·    Theme  MedTech / HealthTech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Drishti-AI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7899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CCFBF1"/>
                </a:solidFill>
                <a:latin typeface="Calibri"/>
              </a:rPr>
              <a:t>Explainable dual-stage diabetic retinopathy screening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for rural Primary Health Centres — offline, on the edge, with the AI allowed to abstain.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7947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39502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4407408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FBF1"/>
                </a:solidFill>
                <a:latin typeface="Calibri"/>
              </a:rPr>
              <a:t>offline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7947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37947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39502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~1.4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4407408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FBF1"/>
                </a:solidFill>
                <a:latin typeface="Calibri"/>
              </a:rPr>
              <a:t>end-to-end screening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9502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407408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FBF1"/>
                </a:solidFill>
                <a:latin typeface="Calibri"/>
              </a:rPr>
              <a:t>forced grades on ungradables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39" y="37947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39" y="37947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1" y="3950208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99.1%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1" y="4407408"/>
            <a:ext cx="2286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FBF1"/>
                </a:solidFill>
                <a:latin typeface="Calibri"/>
              </a:rPr>
              <a:t>bandwidth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749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Bezaleel   ·   Madhu   ·   Akshay   ·   Adithya   ·   Sinduri   ·   Megha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Team Lead  ·  Clinical  ·  Deep Learning  ·  Safety  ·  ASHA UX  ·  Clinical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Calibri"/>
              </a:rPr>
              <a:t>Locked to the approved clinical decision flow  ·  Honest scientific guardrails  ·  Built for the last mile, not the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01  —  THE CLINICAL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India cannot screen diabetes-related blindness with specialists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77 million diabetic adults. One ophthalmologist per 100,000 rural citizens. Early triage can save 90% of sight.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8892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27632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2540"/>
                </a:solidFill>
                <a:latin typeface="Calibri"/>
              </a:rPr>
              <a:t>77M+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28600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diabetic adults in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7889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DR is the leading cause of preventable adult blindness.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37160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788920" cy="73152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627632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2540"/>
                </a:solidFill>
                <a:latin typeface="Calibri"/>
              </a:rPr>
              <a:t>1 : 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28600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rural ophthalmologist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7889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Universal hospital screening is mathematically impossible.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788920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627632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2540"/>
                </a:solidFill>
                <a:latin typeface="Calibri"/>
              </a:rPr>
              <a:t>25–35%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28600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ungradable field captures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7889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Handheld, non-mydriatic cameras in camps and PHCs.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371600"/>
            <a:ext cx="27889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371600"/>
            <a:ext cx="2788920" cy="73152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627632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2540"/>
                </a:solidFill>
                <a:latin typeface="Calibri"/>
              </a:rPr>
              <a:t>70%+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286000"/>
            <a:ext cx="24688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Calibri"/>
              </a:rPr>
              <a:t>screened eyes are healthy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2788920"/>
            <a:ext cx="24688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Without triage, district hospitals drown in false referrals.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86200"/>
            <a:ext cx="1147572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041648"/>
            <a:ext cx="11064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A2540"/>
                </a:solidFill>
                <a:latin typeface="Calibri"/>
              </a:rPr>
              <a:t>The last-mile gap — not a missing model, a missing operating system for rural screening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480560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▸  Community camps, mobile vans, and PHCs use ₹15,000 handheld fundus attachments (Remidio, Forus 3Nethra, Volk iNview) under undilated pupils.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010912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▸  Hospital-lab systems (Google Health ARDA, IDx-DR, EyeArt) proved 5-class grading on Zeiss/Topcon cameras and cloud GPUs. They fail when power, bandwidth, operators, and optics change.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41264"/>
            <a:ext cx="10881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▸  A rural PHC cannot upload 5–15 MB raw images per eye over 2G/3G, cannot wait on cloud GPUs, and cannot staff a retinal specialist on every screening day.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02  / 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02  —  WHY LABORATORY AI FAILS IN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Four deployment failure modes that a hospital model never sees.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Prior work solved grading under curated conditions. Rural India fails on garbage-in, bandwidth, black-box labels, and specialist overload.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715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09728" cy="2286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1C1C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2540"/>
                </a:solidFill>
                <a:latin typeface="Calibri"/>
              </a:rPr>
              <a:t>Garbage-in, garbage-out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5120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Up to 25–35% of camp captures are motion-blurred, poorly lit, occluded, or not even fundus. A classifier still emits an authoritative grade — missed proliferative disease, or a flood of false referrals.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715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109728" cy="22860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57276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874519"/>
            <a:ext cx="5120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2540"/>
                </a:solidFill>
                <a:latin typeface="Calibri"/>
              </a:rPr>
              <a:t>Cloud &amp; bandwidth choke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77440"/>
            <a:ext cx="5120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5–15 MB uncompressed images per eye over 4G/5G is a hospital assumption. Intermittent 2G/3G and power cuts turn cloud inference into camp backlogs.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5715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09728" cy="2286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4164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5120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2540"/>
                </a:solidFill>
                <a:latin typeface="Calibri"/>
              </a:rPr>
              <a:t>Label without a biomarker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5120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“Grade 2: Moderate NPDR” does not tell a rural physician whether the macula is in danger. Clinicians need macular distance (CSME risk) and visual evidence before spending a referral.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40480"/>
            <a:ext cx="5715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40480"/>
            <a:ext cx="109728" cy="2286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041648"/>
            <a:ext cx="51206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343400"/>
            <a:ext cx="51206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2540"/>
                </a:solidFill>
                <a:latin typeface="Calibri"/>
              </a:rPr>
              <a:t>District-scale overload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846320"/>
            <a:ext cx="51206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Without local triage, every screened patient is sent onward. Specialists drown in healthy eyes that make up 70%+ of screened populations.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03  / 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03  —  WHAT WE ARE ACTUALLY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 did not invent 5-class DR grading. We operationalised it for rural India.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SIH26038 · MathWorks  —  last-mile edge screening, not another hospital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11475720" cy="155448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“The AI must know when it cannot answer.”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FBF1"/>
                </a:solidFill>
                <a:latin typeface="Calibri"/>
              </a:rPr>
              <a:t>An ungradable retinal photograph must never be silently forced into a disease prediction. Quality first. Abstention second. Grading only on reliable original pixels.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127248"/>
            <a:ext cx="57150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127248"/>
            <a:ext cx="571500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53949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OUR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●   Quality gate before grading, tuned for handheld rural optics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●   100% offline pipeline on a ₹15,000-class laptop CPU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81727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●   Quantitative CSME risk from OD–fovea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57215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●   District-scale triage that cuts telemetry 99.1%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632703"/>
            <a:ext cx="53035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●   Bilingual ASHA workflow + ABDM FHIR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27248"/>
            <a:ext cx="55778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127248"/>
            <a:ext cx="5577840" cy="4572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5212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HONEST BOUNDARIES  —  WHAT WE ARE NOT CLAIMING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30752"/>
            <a:ext cx="51663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○   We did not invent image-quality gating (ARDA, IDx-DR, EyeArt already do it).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51663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○   We are not a certified medical device (CDSCO Class B/C still required).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81727"/>
            <a:ext cx="51663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○   Grad-CAM++ is attention evidence, not automated lesion segmentation.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57215"/>
            <a:ext cx="51663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○   High-risk, low-confidence, and ungradable cases always go to a human.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632703"/>
            <a:ext cx="51663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○   We do not rewrite pixels before Model 2. Original photograph only.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04  / 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04  —  FOUR DESIGN QUESTIONS, IN PRIORITY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Every architecture decision answers one of these. Nothing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Sustainability  ·  Availability  ·  Accessibility  ·  Platform independence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889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2788920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0020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202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4A3B8"/>
                </a:solidFill>
                <a:latin typeface="Calibri"/>
              </a:rPr>
              <a:t>SUSTAINABILITY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86000"/>
            <a:ext cx="24688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2540"/>
                </a:solidFill>
                <a:latin typeface="Calibri"/>
              </a:rPr>
              <a:t>Will it keep running 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657600"/>
            <a:ext cx="246888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Zero cloud compute bill. Inference on-device. Reject ungradable images before wasting cycles. Designed for existing ₹15k laptops — no forced hardware refresh.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71600"/>
            <a:ext cx="27889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2788920" cy="914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60020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56D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9202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4A3B8"/>
                </a:solidFill>
                <a:latin typeface="Calibri"/>
              </a:rPr>
              <a:t>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286000"/>
            <a:ext cx="24688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2540"/>
                </a:solidFill>
                <a:latin typeface="Calibri"/>
              </a:rPr>
              <a:t>Can everyone reach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657600"/>
            <a:ext cx="246888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Offline-first screening. Opportunistic sync. 2G/3G packets. 20 PHCs + 5 vans × 100k patients simulated. Specialist load from ~4 doctors down to ~1 tele-reviewer per 100k.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7889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371600"/>
            <a:ext cx="2788920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60020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9202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4A3B8"/>
                </a:solidFill>
                <a:latin typeface="Calibri"/>
              </a:rPr>
              <a:t>ACCESSIBILITY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286000"/>
            <a:ext cx="24688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2540"/>
                </a:solidFill>
                <a:latin typeface="Calibri"/>
              </a:rPr>
              <a:t>Can everyone use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657600"/>
            <a:ext cx="246888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ASHA/ANM operated. Plain-language recapture. Hindi + English reports, English audio prompts. Commodity cameras. Clear / Review / Urgent at a glance, plus ICDR grades.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371600"/>
            <a:ext cx="27889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371600"/>
            <a:ext cx="2788920" cy="91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160020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1C1C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192024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4A3B8"/>
                </a:solidFill>
                <a:latin typeface="Calibri"/>
              </a:rPr>
              <a:t>INDEPENDENCE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2286000"/>
            <a:ext cx="246888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2540"/>
                </a:solidFill>
                <a:latin typeface="Calibri"/>
              </a:rPr>
              <a:t>Will it run on what they have?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657600"/>
            <a:ext cx="246888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Open-source. Windows, macOS, Linux, Docker. HL7 FHIR R4, SNOMED CT, LOINC, ABDM. Sensor-agnostic: DICOM, JPEG, PNG. No camera SDK lock-in.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05  / 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05  —  LOCKED CLINICAL DECISION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Quality is the first clinical decision. Grading is the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Non-destructive. Bounded recapture. Two-tier human review. High-risk always escalates.</a:t>
            </a:r>
          </a:p>
        </p:txBody>
      </p:sp>
      <p:sp>
        <p:nvSpPr>
          <p:cNvPr id="7" name="Chevron 6"/>
          <p:cNvSpPr/>
          <p:nvPr/>
        </p:nvSpPr>
        <p:spPr>
          <a:xfrm>
            <a:off x="320040" y="1353312"/>
            <a:ext cx="2286000" cy="777240"/>
          </a:xfrm>
          <a:prstGeom prst="chevron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  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4560"/>
            <a:ext cx="2240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Handheld fundus
₹15k attachment</a:t>
            </a:r>
          </a:p>
        </p:txBody>
      </p:sp>
      <p:sp>
        <p:nvSpPr>
          <p:cNvPr id="9" name="Chevron 8"/>
          <p:cNvSpPr/>
          <p:nvPr/>
        </p:nvSpPr>
        <p:spPr>
          <a:xfrm>
            <a:off x="2697480" y="1353312"/>
            <a:ext cx="2286000" cy="777240"/>
          </a:xfrm>
          <a:prstGeom prst="chevron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  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94560"/>
            <a:ext cx="2240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Model 1 gate
Good / Mid / Bad</a:t>
            </a:r>
          </a:p>
        </p:txBody>
      </p:sp>
      <p:sp>
        <p:nvSpPr>
          <p:cNvPr id="11" name="Chevron 10"/>
          <p:cNvSpPr/>
          <p:nvPr/>
        </p:nvSpPr>
        <p:spPr>
          <a:xfrm>
            <a:off x="5074920" y="1353312"/>
            <a:ext cx="2286000" cy="777240"/>
          </a:xfrm>
          <a:prstGeom prst="chevron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   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194560"/>
            <a:ext cx="2240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Model 2 · 5-class
only if reliable</a:t>
            </a:r>
          </a:p>
        </p:txBody>
      </p:sp>
      <p:sp>
        <p:nvSpPr>
          <p:cNvPr id="13" name="Chevron 12"/>
          <p:cNvSpPr/>
          <p:nvPr/>
        </p:nvSpPr>
        <p:spPr>
          <a:xfrm>
            <a:off x="7452360" y="1353312"/>
            <a:ext cx="2286000" cy="777240"/>
          </a:xfrm>
          <a:prstGeom prst="chevron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  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94560"/>
            <a:ext cx="2240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Grad-CAM++
+ CSME distance</a:t>
            </a:r>
          </a:p>
        </p:txBody>
      </p:sp>
      <p:sp>
        <p:nvSpPr>
          <p:cNvPr id="15" name="Chevron 14"/>
          <p:cNvSpPr/>
          <p:nvPr/>
        </p:nvSpPr>
        <p:spPr>
          <a:xfrm>
            <a:off x="9829800" y="1353312"/>
            <a:ext cx="2286000" cy="777240"/>
          </a:xfrm>
          <a:prstGeom prst="chevron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  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194560"/>
            <a:ext cx="2240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Report · FHIR
refer or recapture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2608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803D"/>
                </a:solidFill>
                <a:latin typeface="Calibri"/>
              </a:rPr>
              <a:t>GOOD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333756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Reliable original image → Model 2. Pixel-for-pixel the same photograph that passed the gate. No CLAHE, no sharpening, no generative filters.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92608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270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0632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45309"/>
                </a:solidFill>
                <a:latin typeface="Calibri"/>
              </a:rPr>
              <a:t>BORDERLINE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474720"/>
            <a:ext cx="333756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Reassessment with stricter thresholds. Cleared → Model 2. Still unreliable → treat as Bad. Never silently upgraded.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92608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06324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1C1C"/>
                </a:solidFill>
                <a:latin typeface="Calibri"/>
              </a:rPr>
              <a:t>BAD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474720"/>
            <a:ext cx="333756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Recapture with a specific reason (blur, illumination, FOV). Hard cap of 2 retries, then operator-level human review. DR grade: not generated.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394960"/>
            <a:ext cx="113385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After a reliable grade: confidence check  →  Grad-CAM heatmap  →  bilingual PDF + FHIR R4.  Low confidence (&lt;60%) or Grade 3/4  →  ophthalmologist over-read.  Operator review ≠ clinical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06  / 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06  —  MODEL 1  ·  IMAGE 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Abstain before you grade. Then tell the ASHA worker exactly what to fix.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MathWorks Req 1  ·  blur · illumination · contrast · FOV  ·  biological defect attribution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53312"/>
            <a:ext cx="6766560" cy="5047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6400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WHAT THE GATE MEASURES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01952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83664"/>
            <a:ext cx="5989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Blur /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76272"/>
            <a:ext cx="59893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Laplacian variance &amp; multi-scale focus gradients. Motion vs defocus.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4320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5989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Illumination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17520"/>
            <a:ext cx="59893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Underexposure, hotspots, corneal reflection uniformity.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4448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5989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Contrast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59893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Vessel-to-background contrast; ungradable if vessels vanish.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25696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07408"/>
            <a:ext cx="5989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Field of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0016"/>
            <a:ext cx="59893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Dynamic circular ROI coverage — is enough retina present?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266944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48656"/>
            <a:ext cx="5989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Defect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41264"/>
            <a:ext cx="59893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Operator error (shake, lid) vs patient pathology (cataract, small pupil).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1353312"/>
            <a:ext cx="4526280" cy="5047488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1554480"/>
            <a:ext cx="4114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OPERATOR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965960"/>
            <a:ext cx="4114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Not “image quality low”.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Actionable, bilingual, audio-capable prompts for ASHA/ANM staff.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3291840"/>
            <a:ext cx="4114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FBF1"/>
                </a:solidFill>
                <a:latin typeface="Calibri"/>
              </a:rPr>
              <a:t>“Blur detected — hold the camera steady.”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950208"/>
            <a:ext cx="4114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FBF1"/>
                </a:solidFill>
                <a:latin typeface="Calibri"/>
              </a:rPr>
              <a:t>“Too dark — move closer to the light.”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4608576"/>
            <a:ext cx="4114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FBF1"/>
                </a:solidFill>
                <a:latin typeface="Calibri"/>
              </a:rPr>
              <a:t>“Eyelid covering the view — ask the patient to open wide.”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5266944"/>
            <a:ext cx="4114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FBF1"/>
                </a:solidFill>
                <a:latin typeface="Calibri"/>
              </a:rPr>
              <a:t>Cap: 2 recaptures, then human review.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07  / 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07  —  MODEL 2, EXPLAINABILITY &amp; BIOMARKERS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Grade only reliable images. Show why. Measure the macula.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MathWorks Req 2–4  ·  EfficientNetB0  ·  Grad-CAM++  ·  OD / fovea / vessels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53312"/>
            <a:ext cx="2212848" cy="777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08176"/>
            <a:ext cx="19933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803D"/>
                </a:solidFill>
                <a:latin typeface="Calibri"/>
              </a:rPr>
              <a:t>GRADE 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82496"/>
            <a:ext cx="19933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No DR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353312"/>
            <a:ext cx="2212848" cy="7772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408176"/>
            <a:ext cx="19933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GRADE 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682496"/>
            <a:ext cx="19933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Mild NPDR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53312"/>
            <a:ext cx="2212848" cy="777240"/>
          </a:xfrm>
          <a:prstGeom prst="roundRect">
            <a:avLst>
              <a:gd name="adj" fmla="val 8000"/>
            </a:avLst>
          </a:prstGeom>
          <a:solidFill>
            <a:srgbClr val="FEFCE8"/>
          </a:solidFill>
          <a:ln w="1270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408176"/>
            <a:ext cx="19933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4A017"/>
                </a:solidFill>
                <a:latin typeface="Calibri"/>
              </a:rPr>
              <a:t>GRADE 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682496"/>
            <a:ext cx="19933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Moderate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19" y="1353312"/>
            <a:ext cx="2212848" cy="7772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7" y="1408176"/>
            <a:ext cx="19933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2410C"/>
                </a:solidFill>
                <a:latin typeface="Calibri"/>
              </a:rPr>
              <a:t>GRADE 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7" y="1682496"/>
            <a:ext cx="19933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Severe NPDR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353312"/>
            <a:ext cx="2212848" cy="7772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7" y="1408176"/>
            <a:ext cx="199339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1C1C"/>
                </a:solidFill>
                <a:latin typeface="Calibri"/>
              </a:rPr>
              <a:t>GRADE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7" y="1682496"/>
            <a:ext cx="19933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Proliferative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304288"/>
            <a:ext cx="3703320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304288"/>
            <a:ext cx="3703320" cy="43891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359152"/>
            <a:ext cx="3383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CLASSIFIER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0779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EfficientNetB0 · 33.4 MB · APTOS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54787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5-class ICDR severity, referable ≥ Grade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18795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~1.4 s end-to-end on Intel i3 / Ryzen 3, 4 GB 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82803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Softmax margin &lt;60% → specialist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46811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Grade 3 / 4 always flagged, regardless of confidence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2304288"/>
            <a:ext cx="3703320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2304288"/>
            <a:ext cx="3703320" cy="43891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6552" y="2359152"/>
            <a:ext cx="3383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GRAD-CAM++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290779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True gradient backprop through final conv maps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354787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Higher-order derivatives for dispersed micro-lesions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418795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&lt;1.2 s on CPU  (MathWorks bound: 30 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482803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Attention heatmap — not lesion segmentation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546811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Overlaid on the original fundus for audit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304288"/>
            <a:ext cx="3703320" cy="4096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2304288"/>
            <a:ext cx="3703320" cy="43891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2359152"/>
            <a:ext cx="33832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STRUCTURE / CSME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290779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Optic disc: intensity + morphological opening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8" y="354787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Fovea: macular depression ~2.5 OD diameters temporal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8" y="418795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Vessels: top-hat + adaptive Otsu caliber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8" y="482803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Euclidean OD–fovea distance → CSME risk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5468112"/>
            <a:ext cx="333756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MA / exudate candidates as review overlays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08  / 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08  —  NON-NEGOTIABLE SAFETY RULES  (ENFORCED IN CODE)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These are not slideware. They live in the router.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Section 3 / 5 / 7 / 9 / 18 / 20  ·  two-tier human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35024"/>
            <a:ext cx="11475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96012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91056"/>
            <a:ext cx="96012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426464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Non-destructive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755648"/>
            <a:ext cx="99669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No runtime enhancement, CLAHE, sharpening, or generative filters before prediction. The image that reaches Model 2 is pixel-for-pixel the retinal photograph that reached Model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40864"/>
            <a:ext cx="11475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340864"/>
            <a:ext cx="96012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96896"/>
            <a:ext cx="96012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32304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Abstention on unreliable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61488"/>
            <a:ext cx="99669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No Bad or still-unreliable image is handed to Model 2. Output is “DR Prediction: Not generated” plus a specific recapture reason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346704"/>
            <a:ext cx="11475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46704"/>
            <a:ext cx="96012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02736"/>
            <a:ext cx="96012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38144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Bounded recaptures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67328"/>
            <a:ext cx="99669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Hard cap of 2 recaptures per patient session. Hitting the cap force-escalates to operator-level human review. No infinite retry loops in a camp.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352544"/>
            <a:ext cx="11475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52544"/>
            <a:ext cx="96012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608576"/>
            <a:ext cx="96012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443983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Mandatory high-risk override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773168"/>
            <a:ext cx="99669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Grade 3 (Severe NPDR) and Grade 4 (Proliferative DR) are always flagged for ophthalmologist over-read, even at 99% model confidence.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358384"/>
            <a:ext cx="11475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58384"/>
            <a:ext cx="960120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614416"/>
            <a:ext cx="960120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D9488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449824"/>
            <a:ext cx="9966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2540"/>
                </a:solidFill>
                <a:latin typeface="Calibri"/>
              </a:rPr>
              <a:t>Two-tier human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779008"/>
            <a:ext cx="99669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Operator-level = camera, lighting, recapture. Clinical-level = diagnosis, referral urgency. The system never confuses a bad photo with a bad retina.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09  / 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09  —  EXPERIMENTAL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gate is not a slogan. It changes what patients are told.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150-image A/B/C benchmark  ·  0% forced prediction on ungradables  ·  full unit + integration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11475720" cy="438912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08176"/>
            <a:ext cx="2743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FBF1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408176"/>
            <a:ext cx="27889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FBF1"/>
                </a:solidFill>
                <a:latin typeface="Calibri"/>
              </a:rPr>
              <a:t>ARM A  ·  NO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08176"/>
            <a:ext cx="26517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FBF1"/>
                </a:solidFill>
                <a:latin typeface="Calibri"/>
              </a:rPr>
              <a:t>ARM B/C  ·  DRISHTI-AI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408176"/>
            <a:ext cx="27889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CFBF1"/>
                </a:solidFill>
                <a:latin typeface="Calibri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47088"/>
            <a:ext cx="114757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2743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Forced predictions on ungradable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2996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91C1C"/>
                </a:solidFill>
                <a:latin typeface="Calibr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029968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Calibri"/>
              </a:rPr>
              <a:t>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029968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No fake grades on blur / garbage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0320"/>
            <a:ext cx="11475720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2743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Referable DR specificity (reliable images)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743200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4155"/>
                </a:solidFill>
                <a:latin typeface="Calibri"/>
              </a:rPr>
              <a:t>Unreliable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743200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91.6%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743200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Stops flooding district hospitals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73552"/>
            <a:ext cx="114757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56432"/>
            <a:ext cx="2743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Screening recapture / abstention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456432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4155"/>
                </a:solidFill>
                <a:latin typeface="Calibri"/>
              </a:rPr>
              <a:t>0%  (blind)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456432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20.7%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456432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Bounded field overhead, under 20% target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86783"/>
            <a:ext cx="11475720" cy="71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69663"/>
            <a:ext cx="2743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Human review escalation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169663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4155"/>
                </a:solidFill>
                <a:latin typeface="Calibri"/>
              </a:rPr>
              <a:t>0%  (silent fail)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169663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75.3%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169663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Ambiguity is surfaced, not buried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00016"/>
            <a:ext cx="1147572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82896"/>
            <a:ext cx="27432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Test suites (unit / integration / edge)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88289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882896"/>
            <a:ext cx="26517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2540"/>
                </a:solidFill>
                <a:latin typeface="Calibri"/>
              </a:rPr>
              <a:t>7 suites, clean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882896"/>
            <a:ext cx="27889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Good / Bad / Borderline paths 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532120"/>
            <a:ext cx="113385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4155"/>
                </a:solidFill>
                <a:latin typeface="Calibri"/>
              </a:rPr>
              <a:t>Arm A is the standard hackathon classifier: 100% of degraded images still receive a clinical-looking grade. Drishti-AI leaks 0%. That is the safety metric we will defend.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10  / 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10  —  EXTERNAL VALIDATION  ·  2,810 REAL LABELED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Measured on third-party labeled screening data — nothing copied from a model 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docs/EVALUATION_RESULTS.md  ·  results/labeled_evaluation.json  ·  python evaluate_labeled_dataset.py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53312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99616"/>
            <a:ext cx="2468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Calibri"/>
              </a:rPr>
              <a:t>71.5%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103120"/>
            <a:ext cx="24688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TOP-1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450592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Matches the model card's own 72% APTOS holdout — integration loses nothing.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53312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499616"/>
            <a:ext cx="2468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Calibri"/>
              </a:rPr>
              <a:t>0.21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103120"/>
            <a:ext cx="24688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REFERABLE-DR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450592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Minority recall collapses under domain shift — human review is mandatory, not optional.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53312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499616"/>
            <a:ext cx="2468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Calibri"/>
              </a:rPr>
              <a:t>6.9%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03120"/>
            <a:ext cx="24688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DOMAIN-GATE FALSE REJECTS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450592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Down from 42% after calibration on real data; over-refuse, never invent.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53312"/>
            <a:ext cx="2788920" cy="210312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499616"/>
            <a:ext cx="24688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D9488"/>
                </a:solidFill>
                <a:latin typeface="Calibri"/>
              </a:rPr>
              <a:t>14 /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103120"/>
            <a:ext cx="24688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ADVERSARIAL INPUTS BLOCKED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450592"/>
            <a:ext cx="24688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alibri"/>
              </a:rPr>
              <a:t>Faces, documents, screenshots rejected — red-team sweep runs in CI (76 subtests).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39312"/>
            <a:ext cx="1147572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12463"/>
            <a:ext cx="5760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QWK 0.31  ·  macro-F1 0.26  ·  ECE 0.064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12463"/>
            <a:ext cx="5257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Accuracy is carried by the majority class; these are the honest numbers and we publish them.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416552"/>
            <a:ext cx="1147572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489704"/>
            <a:ext cx="5760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Model 1 pass rate: 75.7% (was 40.9%, threshold recalibrated)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89704"/>
            <a:ext cx="5257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Full 2,810-image run; fails safe (over-refuses) and every failure fixture is still rejected.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193792"/>
            <a:ext cx="11475720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66944"/>
            <a:ext cx="5760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E2E demo rehearsal: 2/2 runs, 26 assertions green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66944"/>
            <a:ext cx="5257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Boots the real HTTP API: register → risk → quality → analyze → history → adverse input → review queue.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05332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34155"/>
                </a:solidFill>
                <a:latin typeface="Calibri"/>
              </a:rPr>
              <a:t>Honest headline: we defend the safety architecture — refuse, defer, escalate — not an accuracy number the model does not have.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11  / 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11  —  DISTRICT-SCALE TELEMEDICINE  (MATHWORKS REQ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Filter at the edge. Uplink only what a specialist must see.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MATLAB / Simulink discrete-event queue  ·  100,000 patients / year  ·  20 PHCs + 5 vans  ·  1 district hospital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3337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D9488"/>
                </a:solidFill>
                <a:latin typeface="Calibri"/>
              </a:rPr>
              <a:t>99.1%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12848"/>
            <a:ext cx="3337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TELEMETRY 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78608"/>
            <a:ext cx="33375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439.9 GB raw fundus  →  3.8 GB flagged cases + metadata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554480"/>
            <a:ext cx="3337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D9488"/>
                </a:solidFill>
                <a:latin typeface="Calibri"/>
              </a:rPr>
              <a:t>~4 → ~1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212848"/>
            <a:ext cx="3337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TELE-REVIEWERS / 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78608"/>
            <a:ext cx="33375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Specialist bottleneck broken without hiding disease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554480"/>
            <a:ext cx="3337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D9488"/>
                </a:solidFill>
                <a:latin typeface="Calibri"/>
              </a:rPr>
              <a:t>~1.2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12848"/>
            <a:ext cx="33375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ON-SITE TURNAROUND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578608"/>
            <a:ext cx="33375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vs ~1.9 min cloud-only round trip per patient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30752"/>
            <a:ext cx="11475720" cy="2670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77056"/>
            <a:ext cx="110642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WHAT THE SIMULINK MODEL ACTUALLY SIMULATES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15968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M/M/c queues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08576"/>
            <a:ext cx="5394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Patient arrivals, edge inference, tele-ophthalmology uplink as a discrete-event system — not a static spreadsheet.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315968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Local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08576"/>
            <a:ext cx="5394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Only referable, low-confidence, high-risk, and recapture-exhausted cases leave the PHC.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230368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Capacity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522976"/>
            <a:ext cx="5394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Workload drops from 100,000 raw cases to ~16,100 triage cases/year (~62/day) — feasible for a single tele-reviewer.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230368"/>
            <a:ext cx="53949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Hostile networks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522976"/>
            <a:ext cx="5394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Calibri"/>
              </a:rPr>
              <a:t>Lightweight compressed packets remain viable on intermittent 2G/3G. Screening never waits on the WAN.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12  / 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12  —  BUILT FOR THE FIELD, NOT THE DEMO BOOTH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Offline. Commodity hardware. Frontline UX. National digital health 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The Flutter app is how judges interact. The product is everything that works outside a hospital.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53312"/>
            <a:ext cx="571500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109728" cy="230428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99616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EDGE &amp;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83664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Zero runtime API calls or weight downloads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67712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Intel i3 / Ryzen 3, 4 GB RAM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51760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Windows · macOS (Intel &amp; Apple Silicon) · Linux ·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35808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One-command judge path: docker compose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571500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53312"/>
            <a:ext cx="109728" cy="230428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1499616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6DB"/>
                </a:solidFill>
                <a:latin typeface="Calibri"/>
              </a:rPr>
              <a:t>HARDWARE 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1883664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₹15,000 handheld fundus class (Remidio, Forus, Volk)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267712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No proprietary camera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51760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DICOM / JPEG / PNG ingest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035808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Sensor-agnostic preprocessing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822191"/>
            <a:ext cx="571500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22191"/>
            <a:ext cx="109728" cy="23042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968496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45309"/>
                </a:solidFill>
                <a:latin typeface="Calibri"/>
              </a:rPr>
              <a:t>ASHA → DOCTOR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352544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Low-cognitive-load recapture HUD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36592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Hindi + English; Tamil/Telugu/Kannada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120640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Clear / Review / Urgent + ICDR grade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504688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Specialist console: Grad-CAM + CSME overlay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822191"/>
            <a:ext cx="5715000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822191"/>
            <a:ext cx="109728" cy="23042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968496"/>
            <a:ext cx="516636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2540"/>
                </a:solidFill>
                <a:latin typeface="Calibri"/>
              </a:rPr>
              <a:t>INTEROPERABILITY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352544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HL7 FHIR R4 · SNOMED CT · LOINC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1112" y="4736592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Ayushman Bharat Digital Mission aligned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5120640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Bilingual PDF screening dossier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5504688"/>
            <a:ext cx="51663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▸  DPDP-aware: no unencrypted PHI on the open WAN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13  / 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13  —  WHO BUILDS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0896"/>
            <a:ext cx="11338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Six owners. Seven modules. One locked decision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alibri"/>
              </a:rPr>
              <a:t>No orphan components — every module has a named lead and a deliverable.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703320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3291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2540"/>
                </a:solidFill>
                <a:latin typeface="Calibri"/>
              </a:rPr>
              <a:t>Bezaleel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84832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TEAM LEAD  ·  FULL-STACK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14600"/>
            <a:ext cx="32918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Decision router, Streamlit, FastAPI, Docker, cross-platform zero-config.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71600"/>
            <a:ext cx="3703320" cy="914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45920"/>
            <a:ext cx="3291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2540"/>
                </a:solidFill>
                <a:latin typeface="Calibri"/>
              </a:rPr>
              <a:t>Madhu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084832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CLINICAL LEAD  ·  BIOMED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514600"/>
            <a:ext cx="32918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ICMR 2024 risk engine, OD/fovea CSME distance, clinical report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703320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1645920"/>
            <a:ext cx="3291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2540"/>
                </a:solidFill>
                <a:latin typeface="Calibri"/>
              </a:rPr>
              <a:t>Akshay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084832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DEEP LEARNING  · 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514600"/>
            <a:ext cx="32918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EfficientNetB0, Grad-CAM++, MATLAB/Simulink 100k-patient queueing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3703320" cy="914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3291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2540"/>
                </a:solidFill>
                <a:latin typeface="Calibri"/>
              </a:rPr>
              <a:t>Adithya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553712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SAFETY  · 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983480"/>
            <a:ext cx="32918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150-sample benchmark, 0% forced-prediction proof, edge-case hardening.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8404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840480"/>
            <a:ext cx="3703320" cy="914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4114800"/>
            <a:ext cx="3291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2540"/>
                </a:solidFill>
                <a:latin typeface="Calibri"/>
              </a:rPr>
              <a:t>Sinduri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553712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UX  ·  ASHA FIELD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983480"/>
            <a:ext cx="32918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Mobile workflow, recapture HUD, Hindi audio prompts, Figma system.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84048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840480"/>
            <a:ext cx="3703320" cy="914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4114800"/>
            <a:ext cx="329184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2540"/>
                </a:solidFill>
                <a:latin typeface="Calibri"/>
              </a:rPr>
              <a:t>Megha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553712"/>
            <a:ext cx="329184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D9488"/>
                </a:solidFill>
                <a:latin typeface="Calibri"/>
              </a:rPr>
              <a:t>UX  ·  DOCTOR CONSOLE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4983480"/>
            <a:ext cx="329184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34155"/>
                </a:solidFill>
                <a:latin typeface="Calibri"/>
              </a:rPr>
              <a:t>Tele-ophthalmology workbench, Grad-CAM/CSME overlays, ABDM layouts.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656832"/>
            <a:ext cx="86868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BD5E1"/>
                </a:solidFill>
                <a:latin typeface="Calibri"/>
              </a:rPr>
              <a:t>Drishti-AI  ·  SIH26038  ·  MathWorks  ·  Software Prototype Track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656832"/>
            <a:ext cx="13716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CFBF1"/>
                </a:solidFill>
                <a:latin typeface="Calibri"/>
              </a:rPr>
              <a:t>14  /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14  —  WHAT WE WANT JUDGES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We are not building a demo.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BD5E1"/>
                </a:solidFill>
                <a:latin typeface="Calibri"/>
              </a:rPr>
              <a:t>We are building the honest, open-source system that lets a validated approach actually reach the people who need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578608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Quality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077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If the photograph is untrustworthy, there is no grade.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4688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2578608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Offline always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290779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A PHC with no internet still finishes the screening.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2044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630168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Humans in the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Operator for the camera. Ophthalmologist for the disease.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4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12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3630168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9488"/>
                </a:solidFill>
                <a:latin typeface="Calibri"/>
              </a:rPr>
              <a:t>National 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95935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2E8F0"/>
                </a:solidFill>
                <a:latin typeface="Calibri"/>
              </a:rPr>
              <a:t>FHIR R4 / ABDM — not a walled-garden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Drishti-AI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CFBF1"/>
                </a:solidFill>
                <a:latin typeface="Calibri"/>
              </a:rPr>
              <a:t>SIH26038  ·  MathWorks  ·  MedTech  ·  Software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Bezaleel  ·  Madhu  ·  Akshay  ·  Adithya  ·  Sinduri  ·  Megha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Live app  ·  docker compose up  ·  localhost:8000/app     ·   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